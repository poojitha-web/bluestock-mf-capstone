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76A87-E811-CD8C-CB97-0D67C9EA3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D51C4A-81B2-00F0-13A9-14CB2371B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F26BB-BBB2-B332-5C99-6A56B0813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D2B8-35E6-46B2-85B5-B775DC9A6AC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A6032-8B59-9391-0957-27EAE0E3E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28FD5-B78B-4664-8C3D-5DF737B8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7C61-9C49-4430-AC1E-0E84087C1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831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CA2B-CFDE-D752-254C-5B9FB384E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080CB-FBDC-F7E0-92F3-1F2C561CB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75F38-5F31-2943-1A6E-B0EA94FEB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D2B8-35E6-46B2-85B5-B775DC9A6AC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8A393-F1D1-06E3-3673-D9ADA58E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7AAD0-6C04-CF6C-ACD0-D4FAF1EFD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7C61-9C49-4430-AC1E-0E84087C1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11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CEF29-E811-979D-EF21-2558744D4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C4C79-A9EC-9D2E-15EC-40A65092F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017E7-262B-E59D-E1E1-B703D3214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D2B8-35E6-46B2-85B5-B775DC9A6AC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70162-FECA-153B-AEC4-AE6D221B3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9726A-3A9C-338E-AD74-6EA19584F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7C61-9C49-4430-AC1E-0E84087C1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575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F8632-F930-5BFF-F546-5207CC0B0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E1FE0-DB4F-C2AC-8D0B-BB5718FB6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856FD-E0DF-CDF0-FDDE-129EB9694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723CA-6744-C538-2D04-AFB1D3F52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D2B8-35E6-46B2-85B5-B775DC9A6AC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B0FDC-0B15-611E-2C7F-7671F028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6C797-A0E6-51C5-CB21-52C580E2C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7C61-9C49-4430-AC1E-0E84087C1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283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F2ACC-18D8-6CA1-EF03-F7A35025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CD1C0-B2D6-34D2-1C00-8A783F7E1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23215-F6D8-1D70-21B2-7894FCD55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F77EC-5E2F-8AF9-E675-25BE23AE0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39B801-736E-5659-2315-98C09B7680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0375B-A442-F2BC-D488-6D6B55623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D2B8-35E6-46B2-85B5-B775DC9A6AC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E0B94-8440-6757-DE79-EDE820FAD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18FA92-B358-F103-91FE-25F39133C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7C61-9C49-4430-AC1E-0E84087C1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95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F86B7-3944-17EA-4730-B5EB02B4F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BE0DC5-4EB7-7DF9-0D84-7DA0252BC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D2B8-35E6-46B2-85B5-B775DC9A6AC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5BFC5-1D9B-0591-E7D0-4A478CC9C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8577E-5BEB-2651-B843-B4501A35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7C61-9C49-4430-AC1E-0E84087C1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527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7575AD-D07B-A8A2-FA57-98F2D89B1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D2B8-35E6-46B2-85B5-B775DC9A6AC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26CC7-A6D8-FB1C-3913-E9994D487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751A8-8344-BA61-DA67-6F3930E45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7C61-9C49-4430-AC1E-0E84087C1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7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B745-0E5F-0052-EA85-3E58CB380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E3224-827D-F1AF-9411-38D4EBC98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6211CF-4E48-D8BD-EAAF-C2A518609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E71C2-0745-69E0-AA32-0469051E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D2B8-35E6-46B2-85B5-B775DC9A6AC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0696A-C29E-8BA3-F86E-385AC85A9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D68BD-E089-A461-9C50-9926C4644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7C61-9C49-4430-AC1E-0E84087C1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452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5F728-3243-2A60-C283-DBD738A85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A7B900-1F92-FE87-766D-DC84F00C0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1D766E-63B2-947A-09DA-52E7E7E30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E7437-2045-C9D1-409B-ABE49E542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D2B8-35E6-46B2-85B5-B775DC9A6AC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AEB9D-3FD3-74DF-6E84-16700B361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98B88-0D56-8A87-D505-4BC87713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7C61-9C49-4430-AC1E-0E84087C1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219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514A5-CADD-907F-ADDA-4CF031A4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9A2D83-A205-A2DA-F0A8-59671919B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5F1FE-B93D-CBE6-68E9-3680FD728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D2B8-35E6-46B2-85B5-B775DC9A6AC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E38A9-9028-C3D2-839F-76002E15E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C7265-3B67-EBB0-9242-7F744F52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7C61-9C49-4430-AC1E-0E84087C1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351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5B3E34-9FD5-A4B9-F7E3-88662C9AD4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AACB2C-47EB-4E6B-F0FE-3B68C91B5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3CCC7-A144-1A54-6493-F5F7CFC3C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D2B8-35E6-46B2-85B5-B775DC9A6AC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CF9A8-7428-6B99-314A-24929A5B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17013-5D46-9E40-6D39-7A08A960A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7C61-9C49-4430-AC1E-0E84087C1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162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54D0CD-A859-4F6F-05A0-341E3EC1E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5B592-37F1-6DF6-D564-F33FDB771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70C40-CEB7-D539-AD75-68C2D4427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7D2B8-35E6-46B2-85B5-B775DC9A6AC9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8D61-A4B6-803E-C079-6FD606F2CE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85E4A-A390-5B75-6170-C37E8EA32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E7C61-9C49-4430-AC1E-0E84087C1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093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82719F-54C6-3CBC-04E0-488B6A30910C}"/>
              </a:ext>
            </a:extLst>
          </p:cNvPr>
          <p:cNvSpPr txBox="1"/>
          <p:nvPr/>
        </p:nvSpPr>
        <p:spPr>
          <a:xfrm>
            <a:off x="516835" y="1069685"/>
            <a:ext cx="675860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Fund Analytics Capstone Project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Kurapati Poojitha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Intern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000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93D18-DDAF-53EC-4D3A-AB3426154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71588"/>
            <a:ext cx="3147391" cy="1325563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CAF5C-A846-B478-D940-C9408F33D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71469"/>
            <a:ext cx="10515600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Mutual Fund Analytics project aims to analyze mutual fund performance,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behavior, fund house growth, and industry trends using advanced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techniques.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integrates multiple datasets and transforms raw financial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into meaningful insights through ETL pipelines, database management,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analytics, and interactive Power BI dashboards.</a:t>
            </a:r>
          </a:p>
          <a:p>
            <a:pPr marL="0" indent="0"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Objectives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ETL Pipeline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 SQLite Database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 EDA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Calculate Performance Metrics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Interactive Dashboard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 Investment Insights</a:t>
            </a:r>
          </a:p>
        </p:txBody>
      </p:sp>
    </p:spTree>
    <p:extLst>
      <p:ext uri="{BB962C8B-B14F-4D97-AF65-F5344CB8AC3E}">
        <p14:creationId xmlns:p14="http://schemas.microsoft.com/office/powerpoint/2010/main" val="1031280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A683-23AF-38B7-0BE9-5DAC2ED50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ABE2C-2C1C-BC45-6AF4-E939D5A85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304"/>
            <a:ext cx="10515600" cy="1205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multiple datasets covering different aspects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mutual fund operations and investor activity.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327F67-9AAD-7A56-F3F8-C440ADE859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15" t="9775" r="7313" b="11429"/>
          <a:stretch>
            <a:fillRect/>
          </a:stretch>
        </p:blipFill>
        <p:spPr>
          <a:xfrm>
            <a:off x="4084983" y="2448408"/>
            <a:ext cx="2951922" cy="363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696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28BD6-4FF9-E012-4E92-BD0B2643D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61791" cy="777875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Pipeline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8FC10-C2D0-16BE-C951-211FDFE45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47" y="1248603"/>
            <a:ext cx="11039061" cy="13548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ETL pipeline was developed to automate the process of  extracting, cleaning, transforming, and loading mutual fund data.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workflow ensures consistency, reliability, and accuracy before analytics are performed.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0E68A4-C210-4514-89DE-4FD3AB2DA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651" y="2312790"/>
            <a:ext cx="8289235" cy="41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72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D361E-7CAA-D573-29A1-A5AC26836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453695"/>
            <a:ext cx="3962400" cy="668545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F30E8-0643-1F32-BB00-B6B8CE025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752" y="1202626"/>
            <a:ext cx="11635409" cy="8673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relational SQLite database was created to store cleaned mutual fund datasets. Fact and dimension tables were used to improve query performance and data organization.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692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B7865-7434-F6F6-E2C2-CAF80FEB1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764" y="274690"/>
            <a:ext cx="3985009" cy="730145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1EFBC-E31A-0F77-8E85-36C060BC4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103" y="1004835"/>
            <a:ext cx="11661949" cy="10381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was performed to identify trends, growth patterns, investor behavior, and fund performance across the mutual fund industry.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945AB-CDB9-8898-7930-0F5AA5F76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432" y="2042990"/>
            <a:ext cx="7146471" cy="404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543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53402-984B-7938-A87C-20CF7E931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113" y="375065"/>
            <a:ext cx="2859157" cy="668545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39A0B-C386-400B-A963-ED9BA7F50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800" y="1033670"/>
            <a:ext cx="11308400" cy="10137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demographic analysis was performed to understand participation across age groups, gender, and geography.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0D7564-4C00-6499-DB84-55005806E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352" y="2047461"/>
            <a:ext cx="7029383" cy="428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607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F9C9-DA20-C1EC-2299-9E2DFB550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628322" cy="807692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Performance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BA71D-75C0-A56F-120C-2BBE0E9C2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052" y="1172818"/>
            <a:ext cx="11353800" cy="38563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Risk-adjusted performance metrics were calculated to evaluate mutual fund performance across multiple dimensions.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CAGR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Sharpe Ratio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Sortino Ratio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Alpha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Beta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Maximum Drawdown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EECE9-CD11-514C-0F57-674846A0A091}"/>
              </a:ext>
            </a:extLst>
          </p:cNvPr>
          <p:cNvSpPr txBox="1"/>
          <p:nvPr/>
        </p:nvSpPr>
        <p:spPr>
          <a:xfrm>
            <a:off x="699052" y="4532243"/>
            <a:ext cx="436327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CAGR: AMFI 120505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Sharpe: AMFI 148567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Sortino: AMFI 148567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2FC987-7B01-ABDD-A019-F19E4DD91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786" y="2327368"/>
            <a:ext cx="6292162" cy="353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594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20EEE-D0C0-AC93-E96A-74B492878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99316-4AFA-6F84-2A91-FB00088BD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992" y="1497634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analytical techniques were applied to assess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risk and investor behavior.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Value at Risk (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Cohort Analysis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Fund Recommendation Engine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101207 showed highest downside risk.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Investors aged 26–35 contributed the highest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amount.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Cap Funds dominated the recommendation engine.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2091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A03FE-BF29-621D-452C-13E3C311E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55096" cy="658605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92DB-1E74-AC63-0411-FACEA155A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496" y="1169642"/>
            <a:ext cx="10515600" cy="25078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four-page interactive dashboard was developed to provide insights into fund performance, investor activity, and industry growth.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Pages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Executive Dashboard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Performance Analytics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Investor Analytics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Industry Analytics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484A23-9F3D-033B-6A25-EF2D4BBCE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261" y="2027583"/>
            <a:ext cx="77216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43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DE4A07-6572-0C9F-C97E-88EAB9FCD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04" y="238537"/>
            <a:ext cx="5177182" cy="29121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B166E-027E-DCED-8F80-54D61F651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089" y="238538"/>
            <a:ext cx="5177182" cy="2912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B7FAFB-F708-D65D-CED2-9384C3A3E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643" y="3331472"/>
            <a:ext cx="5597940" cy="314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870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0FEB0-1D3C-B7F3-D194-7ADCA01FA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209" y="146465"/>
            <a:ext cx="2560983" cy="748058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5CEFD-E847-7987-EAA6-D7819A942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209" y="894523"/>
            <a:ext cx="10409582" cy="3920072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SBI Mutual Fund dominated AUM.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Small Cap Funds delivered highest returns.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SIP inflows showed strong growth.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Investor participation doubled.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26–35 age group invested the most.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T30 cities generated highest SIP volume.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Equity categories attracted maximum inflows.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Fund 148567 delivered best risk-adjusted returns.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Small Cap Funds dominated recommendations.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Dashboard improved investment visibility.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6901E5-A82E-C4EB-5FDF-A3089CC196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926"/>
          <a:stretch>
            <a:fillRect/>
          </a:stretch>
        </p:blipFill>
        <p:spPr>
          <a:xfrm>
            <a:off x="2171700" y="3863677"/>
            <a:ext cx="8224193" cy="292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55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14514-AA0E-F4DE-0C58-06B6F67F6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713" y="249997"/>
            <a:ext cx="4191000" cy="787814"/>
          </a:xfrm>
        </p:spPr>
        <p:txBody>
          <a:bodyPr>
            <a:normAutofit/>
          </a:bodyPr>
          <a:lstStyle/>
          <a:p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1584E-6380-2A2D-7BEE-EDBB8ADF8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7811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Mutual Fund Analytics project successfully transformed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mutual fund datasets into actionable business insights.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demonstrated practical applications of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SQLite, Power BI, and financial analytics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investment decision support.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Monte Carlo Simulation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Portfolio Optimization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NAV Tracking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Reporting</a:t>
            </a:r>
          </a:p>
        </p:txBody>
      </p:sp>
    </p:spTree>
    <p:extLst>
      <p:ext uri="{BB962C8B-B14F-4D97-AF65-F5344CB8AC3E}">
        <p14:creationId xmlns:p14="http://schemas.microsoft.com/office/powerpoint/2010/main" val="396569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E77E07-F147-DD08-473E-1C9CB6EB5F10}"/>
              </a:ext>
            </a:extLst>
          </p:cNvPr>
          <p:cNvSpPr txBox="1"/>
          <p:nvPr/>
        </p:nvSpPr>
        <p:spPr>
          <a:xfrm>
            <a:off x="2097157" y="1610139"/>
            <a:ext cx="823847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Thank You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Answers</a:t>
            </a:r>
          </a:p>
        </p:txBody>
      </p:sp>
    </p:spTree>
    <p:extLst>
      <p:ext uri="{BB962C8B-B14F-4D97-AF65-F5344CB8AC3E}">
        <p14:creationId xmlns:p14="http://schemas.microsoft.com/office/powerpoint/2010/main" val="1893419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560</Words>
  <Application>Microsoft Office PowerPoint</Application>
  <PresentationFormat>Widescreen</PresentationFormat>
  <Paragraphs>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Office Theme</vt:lpstr>
      <vt:lpstr>PowerPoint Presentation</vt:lpstr>
      <vt:lpstr>Project Overview</vt:lpstr>
      <vt:lpstr>Datasets Used</vt:lpstr>
      <vt:lpstr>ETL Pipeline Architecture</vt:lpstr>
      <vt:lpstr>SQLite Database Design</vt:lpstr>
      <vt:lpstr>Exploratory Data Analysis</vt:lpstr>
      <vt:lpstr>Investor Analytics</vt:lpstr>
      <vt:lpstr>Fund Performance Analytics</vt:lpstr>
      <vt:lpstr>Advanced Analytics</vt:lpstr>
      <vt:lpstr>Interactive Power BI Dashboard</vt:lpstr>
      <vt:lpstr>PowerPoint Presentation</vt:lpstr>
      <vt:lpstr>Key Findings</vt:lpstr>
      <vt:lpstr>Conclusion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Poojitha Kurapati</dc:creator>
  <cp:lastModifiedBy>Poojitha Kurapati</cp:lastModifiedBy>
  <cp:revision>1</cp:revision>
  <dcterms:created xsi:type="dcterms:W3CDTF">2026-06-09T15:33:25Z</dcterms:created>
  <dcterms:modified xsi:type="dcterms:W3CDTF">2026-06-09T16:17:59Z</dcterms:modified>
</cp:coreProperties>
</file>